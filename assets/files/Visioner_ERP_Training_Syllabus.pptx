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2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24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hyperlink" Target="https://www.visionererp.co.k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3200400"/>
            <a:ext cx="8229600" cy="8229600"/>
          </a:xfrm>
          <a:prstGeom prst="ellipse">
            <a:avLst/>
          </a:prstGeom>
          <a:solidFill>
            <a:srgbClr val="0D47A1">
              <a:alpha val="25000"/>
            </a:srgbClr>
          </a:solidFill>
          <a:ln w="12700">
            <a:solidFill>
              <a:srgbClr val="0D47A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1976D2">
              <a:alpha val="18000"/>
            </a:srgbClr>
          </a:solidFill>
          <a:ln w="12700">
            <a:solidFill>
              <a:srgbClr val="1976D2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VISIONER ERP SOLUTIONS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the Next Generation of Full-Stack Developers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486400" cy="36576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Week Full-Stack +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A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&amp; Agentic AI Program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  |  Mon – Fri  |  3–4 Hours / Day  |  Production-Ready Training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0D47A1">
              <a:alpha val="40000"/>
            </a:srgbClr>
          </a:solidFill>
          <a:ln w="12700">
            <a:solidFill>
              <a:srgbClr val="1976D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6344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80160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+ .NET 8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474720" y="4389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0D47A1">
              <a:alpha val="40000"/>
            </a:srgbClr>
          </a:solidFill>
          <a:ln w="12700">
            <a:solidFill>
              <a:srgbClr val="1976D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46634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14800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309360" y="4389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0D47A1">
              <a:alpha val="40000"/>
            </a:srgbClr>
          </a:solidFill>
          <a:ln w="12700">
            <a:solidFill>
              <a:srgbClr val="1976D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6634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49440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GenAI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144000" y="4389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0D47A1">
              <a:alpha val="40000"/>
            </a:srgbClr>
          </a:solidFill>
          <a:ln w="12700">
            <a:solidFill>
              <a:srgbClr val="1976D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46634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84080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0" y="6446520"/>
            <a:ext cx="12161520" cy="338328"/>
          </a:xfrm>
          <a:prstGeom prst="rect">
            <a:avLst/>
          </a:prstGeom>
          <a:solidFill>
            <a:srgbClr val="1976D2">
              <a:alpha val="80000"/>
            </a:srgbClr>
          </a:solidFill>
          <a:ln w="12700">
            <a:solidFill>
              <a:srgbClr val="1976D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152400" y="6497193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26720" y="6422517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+91 814 353 3535 </a:t>
            </a:r>
            <a:endParaRPr lang="en-US" sz="11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>
            <a:biLevel thresh="50000"/>
          </a:blip>
          <a:stretch>
            <a:fillRect/>
          </a:stretch>
        </p:blipFill>
        <p:spPr>
          <a:xfrm>
            <a:off x="4267200" y="6497193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41520" y="6422517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info@visionerpsolutions.com</a:t>
            </a:r>
            <a:endParaRPr lang="en-US" sz="11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>
            <a:biLevel thresh="50000"/>
          </a:blip>
          <a:stretch>
            <a:fillRect/>
          </a:stretch>
        </p:blipFill>
        <p:spPr>
          <a:xfrm>
            <a:off x="7650480" y="6497193"/>
            <a:ext cx="228600" cy="2286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924800" y="6422517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Hyderabad, Telangana  |  GST No: 36AALCV9084F1ZR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Text 6"/>
          <p:cNvSpPr/>
          <p:nvPr/>
        </p:nvSpPr>
        <p:spPr>
          <a:xfrm>
            <a:off x="333756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3375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Content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18872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Text 9"/>
          <p:cNvSpPr/>
          <p:nvPr/>
        </p:nvSpPr>
        <p:spPr>
          <a:xfrm>
            <a:off x="621792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621792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098280" y="118872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Text 12"/>
          <p:cNvSpPr/>
          <p:nvPr/>
        </p:nvSpPr>
        <p:spPr>
          <a:xfrm>
            <a:off x="909828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909828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MASTER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2004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Shape 16"/>
          <p:cNvSpPr/>
          <p:nvPr/>
        </p:nvSpPr>
        <p:spPr>
          <a:xfrm>
            <a:off x="530352" y="331012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364992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80160" y="3291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280160" y="363931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JS, Angular, .NET 8 Web API, SQL Server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126480" y="32004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4" name="Shape 20"/>
          <p:cNvSpPr/>
          <p:nvPr/>
        </p:nvSpPr>
        <p:spPr>
          <a:xfrm>
            <a:off x="6199632" y="331012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3364992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49440" y="3291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ORM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949440" y="363931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Server, Entity Framework Core, Migrations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57200" y="429768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9" name="Shape 24"/>
          <p:cNvSpPr/>
          <p:nvPr/>
        </p:nvSpPr>
        <p:spPr>
          <a:xfrm>
            <a:off x="530352" y="440740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4462272"/>
            <a:ext cx="502920" cy="5029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80160" y="4389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GenAI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280160" y="47365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engineering, code refactoring, documentation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126480" y="429768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4" name="Shape 28"/>
          <p:cNvSpPr/>
          <p:nvPr/>
        </p:nvSpPr>
        <p:spPr>
          <a:xfrm>
            <a:off x="6199632" y="440740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496" y="4462272"/>
            <a:ext cx="502920" cy="5029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949440" y="4389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6949440" y="47365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loops, function-calling, audit &amp; safety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457200" y="539496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9" name="Shape 32"/>
          <p:cNvSpPr/>
          <p:nvPr/>
        </p:nvSpPr>
        <p:spPr>
          <a:xfrm>
            <a:off x="530352" y="550468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" y="5559552"/>
            <a:ext cx="502920" cy="5029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280160" y="5486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Git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1280160" y="583387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CI pipeline, code reviews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6126480" y="539496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4" name="Shape 36"/>
          <p:cNvSpPr/>
          <p:nvPr/>
        </p:nvSpPr>
        <p:spPr>
          <a:xfrm>
            <a:off x="6199632" y="550468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5559552"/>
            <a:ext cx="502920" cy="50292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6949440" y="5486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6949440" y="583387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project, live demo, portfolio-ready output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1976D2">
              <a:alpha val="12000"/>
            </a:srgbClr>
          </a:solidFill>
          <a:ln w="12700">
            <a:solidFill>
              <a:srgbClr val="1976D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– 6: Foundations &amp; Full-Stack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5029200" cy="36576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657600" cy="2423160"/>
          </a:xfrm>
          <a:prstGeom prst="roundRect">
            <a:avLst>
              <a:gd name="adj" fmla="val 5660"/>
            </a:avLst>
          </a:prstGeom>
          <a:solidFill>
            <a:srgbClr val="132040"/>
          </a:solidFill>
          <a:ln w="12700">
            <a:solidFill>
              <a:srgbClr val="1976D2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7" name="Shape 5"/>
          <p:cNvSpPr/>
          <p:nvPr/>
        </p:nvSpPr>
        <p:spPr>
          <a:xfrm>
            <a:off x="475488" y="13898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8" name="Text 6"/>
          <p:cNvSpPr/>
          <p:nvPr/>
        </p:nvSpPr>
        <p:spPr>
          <a:xfrm>
            <a:off x="475488" y="1389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Git Foundations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993392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Flexbox, Responsive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JavaScript: vars, arrays, functions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– DOM &amp; Ajax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clone, commit, push, branches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280160"/>
            <a:ext cx="3657600" cy="2423160"/>
          </a:xfrm>
          <a:prstGeom prst="roundRect">
            <a:avLst>
              <a:gd name="adj" fmla="val 5660"/>
            </a:avLst>
          </a:prstGeom>
          <a:solidFill>
            <a:srgbClr val="132040"/>
          </a:solidFill>
          <a:ln w="12700">
            <a:solidFill>
              <a:srgbClr val="00838F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Shape 10"/>
          <p:cNvSpPr/>
          <p:nvPr/>
        </p:nvSpPr>
        <p:spPr>
          <a:xfrm>
            <a:off x="4407408" y="13898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Text 11"/>
          <p:cNvSpPr/>
          <p:nvPr/>
        </p:nvSpPr>
        <p:spPr>
          <a:xfrm>
            <a:off x="4407408" y="1389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&amp; Angular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62272" y="1993392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TypeScript: types, interfaces, generics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setup &amp; architecture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templates, data binding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dependency injection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1280160"/>
            <a:ext cx="3657600" cy="2423160"/>
          </a:xfrm>
          <a:prstGeom prst="roundRect">
            <a:avLst>
              <a:gd name="adj" fmla="val 5660"/>
            </a:avLst>
          </a:prstGeom>
          <a:solidFill>
            <a:srgbClr val="132040"/>
          </a:solidFill>
          <a:ln w="12700">
            <a:solidFill>
              <a:srgbClr val="7B1FA2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Shape 15"/>
          <p:cNvSpPr/>
          <p:nvPr/>
        </p:nvSpPr>
        <p:spPr>
          <a:xfrm>
            <a:off x="8339328" y="13898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Text 16"/>
          <p:cNvSpPr/>
          <p:nvPr/>
        </p:nvSpPr>
        <p:spPr>
          <a:xfrm>
            <a:off x="8339328" y="1389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154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Routing &amp; APIs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94192" y="1993392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routing &amp; route params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Template-driven forms &amp; validation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for REST calls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UI wired to mock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31920"/>
            <a:ext cx="3657600" cy="2423160"/>
          </a:xfrm>
          <a:prstGeom prst="roundRect">
            <a:avLst>
              <a:gd name="adj" fmla="val 5660"/>
            </a:avLst>
          </a:prstGeom>
          <a:solidFill>
            <a:srgbClr val="132040"/>
          </a:solidFill>
          <a:ln w="12700">
            <a:solidFill>
              <a:srgbClr val="C62828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2" name="Shape 20"/>
          <p:cNvSpPr/>
          <p:nvPr/>
        </p:nvSpPr>
        <p:spPr>
          <a:xfrm>
            <a:off x="475488" y="40416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Text 21"/>
          <p:cNvSpPr/>
          <p:nvPr/>
        </p:nvSpPr>
        <p:spPr>
          <a:xfrm>
            <a:off x="475488" y="4041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4023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Web API &amp; SQL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4645152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DTOs, REST design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tables, keys, joins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&amp; migrations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API for one domain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3931920"/>
            <a:ext cx="3657600" cy="2423160"/>
          </a:xfrm>
          <a:prstGeom prst="roundRect">
            <a:avLst>
              <a:gd name="adj" fmla="val 5660"/>
            </a:avLst>
          </a:prstGeom>
          <a:solidFill>
            <a:srgbClr val="132040"/>
          </a:solidFill>
          <a:ln w="12700">
            <a:solidFill>
              <a:srgbClr val="00838F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25"/>
          <p:cNvSpPr/>
          <p:nvPr/>
        </p:nvSpPr>
        <p:spPr>
          <a:xfrm>
            <a:off x="4407408" y="40416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Text 26"/>
          <p:cNvSpPr/>
          <p:nvPr/>
        </p:nvSpPr>
        <p:spPr>
          <a:xfrm>
            <a:off x="4407408" y="4041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83480" y="4023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CRUD Module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62272" y="4645152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↔ live .NET API connect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CRUD: list, search, detail, create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&amp; user feedback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error responses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0" y="3931920"/>
            <a:ext cx="3657600" cy="2423160"/>
          </a:xfrm>
          <a:prstGeom prst="roundRect">
            <a:avLst>
              <a:gd name="adj" fmla="val 5660"/>
            </a:avLst>
          </a:prstGeom>
          <a:solidFill>
            <a:srgbClr val="132040"/>
          </a:solidFill>
          <a:ln w="12700">
            <a:solidFill>
              <a:srgbClr val="E65100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2" name="Shape 30"/>
          <p:cNvSpPr/>
          <p:nvPr/>
        </p:nvSpPr>
        <p:spPr>
          <a:xfrm>
            <a:off x="8339328" y="40416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Text 31"/>
          <p:cNvSpPr/>
          <p:nvPr/>
        </p:nvSpPr>
        <p:spPr>
          <a:xfrm>
            <a:off x="8339328" y="4041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15400" y="4023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RBAC &amp; DevOps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94192" y="4645152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cookie authentication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protection &amp; auth policies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auth flow &amp; HTTP interceptor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pipeline: build &amp; test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 —  Weeks 7 – 12: AI Integration &amp; Capstone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703320" cy="2468880"/>
          </a:xfrm>
          <a:prstGeom prst="roundRect">
            <a:avLst>
              <a:gd name="adj" fmla="val 5556"/>
            </a:avLst>
          </a:prstGeom>
          <a:solidFill>
            <a:srgbClr val="EBF5FB"/>
          </a:solidFill>
          <a:ln w="12700">
            <a:solidFill>
              <a:srgbClr val="0D47A1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12344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Mini-ERP Consolidation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" y="1801368"/>
            <a:ext cx="3337560" cy="22860"/>
          </a:xfrm>
          <a:prstGeom prst="rect">
            <a:avLst/>
          </a:prstGeom>
          <a:solidFill>
            <a:srgbClr val="0D47A1">
              <a:alpha val="50000"/>
            </a:srgbClr>
          </a:solidFill>
          <a:ln w="12700">
            <a:solidFill>
              <a:srgbClr val="0D47A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502920" y="1892808"/>
            <a:ext cx="32918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slice: Inventory / Purchase Orders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&amp; charts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error handling &amp; UX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critical services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143000"/>
            <a:ext cx="3703320" cy="2468880"/>
          </a:xfrm>
          <a:prstGeom prst="roundRect">
            <a:avLst>
              <a:gd name="adj" fmla="val 5556"/>
            </a:avLst>
          </a:prstGeom>
          <a:solidFill>
            <a:srgbClr val="E8F8F5"/>
          </a:solidFill>
          <a:ln w="12700">
            <a:solidFill>
              <a:srgbClr val="00838F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1" name="Shape 9"/>
          <p:cNvSpPr/>
          <p:nvPr/>
        </p:nvSpPr>
        <p:spPr>
          <a:xfrm>
            <a:off x="4389120" y="1261872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Text 10"/>
          <p:cNvSpPr/>
          <p:nvPr/>
        </p:nvSpPr>
        <p:spPr>
          <a:xfrm>
            <a:off x="4389120" y="12618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08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20640" y="12344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&amp; GenAI – Part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16552" y="1801368"/>
            <a:ext cx="3337560" cy="22860"/>
          </a:xfrm>
          <a:prstGeom prst="rect">
            <a:avLst/>
          </a:prstGeom>
          <a:solidFill>
            <a:srgbClr val="00838F">
              <a:alpha val="50000"/>
            </a:srgbClr>
          </a:solidFill>
          <a:ln w="12700">
            <a:solidFill>
              <a:srgbClr val="00838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3"/>
          <p:cNvSpPr/>
          <p:nvPr/>
        </p:nvSpPr>
        <p:spPr>
          <a:xfrm>
            <a:off x="4434840" y="1892808"/>
            <a:ext cx="32918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&amp; LLM concepts for devs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to explain &amp; refactor code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patterns for boilerplate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AI-proposed SQL schemas (reviewed)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83880" y="1143000"/>
            <a:ext cx="3703320" cy="2468880"/>
          </a:xfrm>
          <a:prstGeom prst="roundRect">
            <a:avLst>
              <a:gd name="adj" fmla="val 5556"/>
            </a:avLst>
          </a:prstGeom>
          <a:solidFill>
            <a:srgbClr val="F3E5F5"/>
          </a:solidFill>
          <a:ln w="12700">
            <a:solidFill>
              <a:srgbClr val="7B1FA2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Shape 15"/>
          <p:cNvSpPr/>
          <p:nvPr/>
        </p:nvSpPr>
        <p:spPr>
          <a:xfrm>
            <a:off x="8321040" y="1261872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Text 16"/>
          <p:cNvSpPr/>
          <p:nvPr/>
        </p:nvSpPr>
        <p:spPr>
          <a:xfrm>
            <a:off x="8321040" y="12618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09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52560" y="12344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&amp; GenAI – Part 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48472" y="1801368"/>
            <a:ext cx="3337560" cy="22860"/>
          </a:xfrm>
          <a:prstGeom prst="rect">
            <a:avLst/>
          </a:prstGeom>
          <a:solidFill>
            <a:srgbClr val="7B1FA2">
              <a:alpha val="50000"/>
            </a:srgbClr>
          </a:solidFill>
          <a:ln w="12700">
            <a:solidFill>
              <a:srgbClr val="7B1FA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9"/>
          <p:cNvSpPr/>
          <p:nvPr/>
        </p:nvSpPr>
        <p:spPr>
          <a:xfrm>
            <a:off x="8366760" y="1892808"/>
            <a:ext cx="32918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improve test cases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API docs with AI assist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Hallucinations, security, privacy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libraries &amp; workflows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840480"/>
            <a:ext cx="3703320" cy="2468880"/>
          </a:xfrm>
          <a:prstGeom prst="roundRect">
            <a:avLst>
              <a:gd name="adj" fmla="val 5556"/>
            </a:avLst>
          </a:prstGeom>
          <a:solidFill>
            <a:srgbClr val="FFFDE7"/>
          </a:solidFill>
          <a:ln w="12700">
            <a:solidFill>
              <a:srgbClr val="FFA000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21"/>
          <p:cNvSpPr/>
          <p:nvPr/>
        </p:nvSpPr>
        <p:spPr>
          <a:xfrm>
            <a:off x="457200" y="3959352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22"/>
          <p:cNvSpPr/>
          <p:nvPr/>
        </p:nvSpPr>
        <p:spPr>
          <a:xfrm>
            <a:off x="457200" y="395935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88720" y="393192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Read-Only Assistant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" y="4498848"/>
            <a:ext cx="3337560" cy="2286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Text 25"/>
          <p:cNvSpPr/>
          <p:nvPr/>
        </p:nvSpPr>
        <p:spPr>
          <a:xfrm>
            <a:off x="502920" y="4590288"/>
            <a:ext cx="32918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chatbot: plan-act-reflect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query design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query endpoints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AI query panel integration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51960" y="3840480"/>
            <a:ext cx="3703320" cy="2468880"/>
          </a:xfrm>
          <a:prstGeom prst="roundRect">
            <a:avLst>
              <a:gd name="adj" fmla="val 5556"/>
            </a:avLst>
          </a:prstGeom>
          <a:solidFill>
            <a:srgbClr val="FDEDEC"/>
          </a:solidFill>
          <a:ln w="12700">
            <a:solidFill>
              <a:srgbClr val="C6282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9" name="Shape 27"/>
          <p:cNvSpPr/>
          <p:nvPr/>
        </p:nvSpPr>
        <p:spPr>
          <a:xfrm>
            <a:off x="4389120" y="3959352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Text 28"/>
          <p:cNvSpPr/>
          <p:nvPr/>
        </p:nvSpPr>
        <p:spPr>
          <a:xfrm>
            <a:off x="4389120" y="395935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0" y="393192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with Actions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16552" y="4498848"/>
            <a:ext cx="3337560" cy="22860"/>
          </a:xfrm>
          <a:prstGeom prst="rect">
            <a:avLst/>
          </a:prstGeom>
          <a:solidFill>
            <a:srgbClr val="C62828">
              <a:alpha val="50000"/>
            </a:srgbClr>
          </a:solidFill>
          <a:ln w="12700">
            <a:solidFill>
              <a:srgbClr val="C6282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Text 31"/>
          <p:cNvSpPr/>
          <p:nvPr/>
        </p:nvSpPr>
        <p:spPr>
          <a:xfrm>
            <a:off x="4434840" y="4590288"/>
            <a:ext cx="32918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actions with confirmation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endpoints in backend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proposes, user confirms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audit of agent actions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83880" y="3840480"/>
            <a:ext cx="3703320" cy="2468880"/>
          </a:xfrm>
          <a:prstGeom prst="roundRect">
            <a:avLst>
              <a:gd name="adj" fmla="val 5556"/>
            </a:avLst>
          </a:prstGeom>
          <a:solidFill>
            <a:srgbClr val="E8F5E9"/>
          </a:solidFill>
          <a:ln w="12700">
            <a:solidFill>
              <a:srgbClr val="2E7D32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5" name="Shape 33"/>
          <p:cNvSpPr/>
          <p:nvPr/>
        </p:nvSpPr>
        <p:spPr>
          <a:xfrm>
            <a:off x="8321040" y="3959352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6" name="Text 34"/>
          <p:cNvSpPr/>
          <p:nvPr/>
        </p:nvSpPr>
        <p:spPr>
          <a:xfrm>
            <a:off x="8321040" y="395935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052560" y="393192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&amp; Final Demo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48472" y="4498848"/>
            <a:ext cx="3337560" cy="22860"/>
          </a:xfrm>
          <a:prstGeom prst="rect">
            <a:avLst/>
          </a:prstGeom>
          <a:solidFill>
            <a:srgbClr val="2E7D32">
              <a:alpha val="50000"/>
            </a:srgbClr>
          </a:solidFill>
          <a:ln w="12700">
            <a:solidFill>
              <a:srgbClr val="2E7D3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9" name="Text 37"/>
          <p:cNvSpPr/>
          <p:nvPr/>
        </p:nvSpPr>
        <p:spPr>
          <a:xfrm>
            <a:off x="8366760" y="4590288"/>
            <a:ext cx="32918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ERP feature in teams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doc: UI, API, DB, AI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implementation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demos &amp; code walkthrough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7315200" cy="7315200"/>
          </a:xfrm>
          <a:prstGeom prst="ellipse">
            <a:avLst/>
          </a:prstGeom>
          <a:solidFill>
            <a:srgbClr val="1976D2">
              <a:alpha val="12000"/>
            </a:srgbClr>
          </a:solidFill>
          <a:ln w="12700">
            <a:solidFill>
              <a:srgbClr val="1976D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build production-ready applications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148840" cy="5029200"/>
          </a:xfrm>
          <a:prstGeom prst="roundRect">
            <a:avLst>
              <a:gd name="adj" fmla="val 7660"/>
            </a:avLst>
          </a:prstGeom>
          <a:solidFill>
            <a:srgbClr val="0E2040"/>
          </a:solidFill>
          <a:ln w="12700">
            <a:solidFill>
              <a:srgbClr val="1976D2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6" name="Shape 4"/>
          <p:cNvSpPr/>
          <p:nvPr/>
        </p:nvSpPr>
        <p:spPr>
          <a:xfrm>
            <a:off x="987552" y="1490472"/>
            <a:ext cx="914400" cy="91440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61848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49631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1976D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7"/>
          <p:cNvSpPr/>
          <p:nvPr/>
        </p:nvSpPr>
        <p:spPr>
          <a:xfrm>
            <a:off x="548640" y="3108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767328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1976D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Text 9"/>
          <p:cNvSpPr/>
          <p:nvPr/>
        </p:nvSpPr>
        <p:spPr>
          <a:xfrm>
            <a:off x="548640" y="376732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4425696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1976D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Text 11"/>
          <p:cNvSpPr/>
          <p:nvPr/>
        </p:nvSpPr>
        <p:spPr>
          <a:xfrm>
            <a:off x="548640" y="442569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5084064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1976D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3"/>
          <p:cNvSpPr/>
          <p:nvPr/>
        </p:nvSpPr>
        <p:spPr>
          <a:xfrm>
            <a:off x="548640" y="508406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5742432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1976D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Text 15"/>
          <p:cNvSpPr/>
          <p:nvPr/>
        </p:nvSpPr>
        <p:spPr>
          <a:xfrm>
            <a:off x="548640" y="57424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697480" y="1325880"/>
            <a:ext cx="2148840" cy="5029200"/>
          </a:xfrm>
          <a:prstGeom prst="roundRect">
            <a:avLst>
              <a:gd name="adj" fmla="val 7660"/>
            </a:avLst>
          </a:prstGeom>
          <a:solidFill>
            <a:srgbClr val="0E2040"/>
          </a:solidFill>
          <a:ln w="12700">
            <a:solidFill>
              <a:srgbClr val="00838F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7"/>
          <p:cNvSpPr/>
          <p:nvPr/>
        </p:nvSpPr>
        <p:spPr>
          <a:xfrm>
            <a:off x="3319272" y="1490472"/>
            <a:ext cx="914400" cy="91440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618488"/>
            <a:ext cx="640080" cy="640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697480" y="249631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2880360" y="3108960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00838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20"/>
          <p:cNvSpPr/>
          <p:nvPr/>
        </p:nvSpPr>
        <p:spPr>
          <a:xfrm>
            <a:off x="2880360" y="3108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Web API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880360" y="3767328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00838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6" name="Text 22"/>
          <p:cNvSpPr/>
          <p:nvPr/>
        </p:nvSpPr>
        <p:spPr>
          <a:xfrm>
            <a:off x="2880360" y="376732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2880360" y="4425696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00838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Text 24"/>
          <p:cNvSpPr/>
          <p:nvPr/>
        </p:nvSpPr>
        <p:spPr>
          <a:xfrm>
            <a:off x="2880360" y="442569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Design / DTOs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2880360" y="5084064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00838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Text 26"/>
          <p:cNvSpPr/>
          <p:nvPr/>
        </p:nvSpPr>
        <p:spPr>
          <a:xfrm>
            <a:off x="2880360" y="508406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2880360" y="5742432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00838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2" name="Text 28"/>
          <p:cNvSpPr/>
          <p:nvPr/>
        </p:nvSpPr>
        <p:spPr>
          <a:xfrm>
            <a:off x="2880360" y="57424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5029200" y="1325880"/>
            <a:ext cx="2148840" cy="5029200"/>
          </a:xfrm>
          <a:prstGeom prst="roundRect">
            <a:avLst>
              <a:gd name="adj" fmla="val 7660"/>
            </a:avLst>
          </a:prstGeom>
          <a:solidFill>
            <a:srgbClr val="0E2040"/>
          </a:solidFill>
          <a:ln w="12700">
            <a:solidFill>
              <a:srgbClr val="7B1FA2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4" name="Shape 30"/>
          <p:cNvSpPr/>
          <p:nvPr/>
        </p:nvSpPr>
        <p:spPr>
          <a:xfrm>
            <a:off x="5650992" y="1490472"/>
            <a:ext cx="914400" cy="91440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1618488"/>
            <a:ext cx="640080" cy="64008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029200" y="249631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5212080" y="3108960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7B1FA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8" name="Text 33"/>
          <p:cNvSpPr/>
          <p:nvPr/>
        </p:nvSpPr>
        <p:spPr>
          <a:xfrm>
            <a:off x="5212080" y="3108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5212080" y="3767328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7B1FA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0" name="Text 35"/>
          <p:cNvSpPr/>
          <p:nvPr/>
        </p:nvSpPr>
        <p:spPr>
          <a:xfrm>
            <a:off x="5212080" y="376732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Queries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5212080" y="4425696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7B1FA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2" name="Text 37"/>
          <p:cNvSpPr/>
          <p:nvPr/>
        </p:nvSpPr>
        <p:spPr>
          <a:xfrm>
            <a:off x="5212080" y="442569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5212080" y="5084064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7B1FA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4" name="Text 39"/>
          <p:cNvSpPr/>
          <p:nvPr/>
        </p:nvSpPr>
        <p:spPr>
          <a:xfrm>
            <a:off x="5212080" y="508406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5212080" y="5742432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7B1FA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6" name="Text 41"/>
          <p:cNvSpPr/>
          <p:nvPr/>
        </p:nvSpPr>
        <p:spPr>
          <a:xfrm>
            <a:off x="5212080" y="57424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Procs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7360920" y="1325880"/>
            <a:ext cx="2148840" cy="5029200"/>
          </a:xfrm>
          <a:prstGeom prst="roundRect">
            <a:avLst>
              <a:gd name="adj" fmla="val 7660"/>
            </a:avLst>
          </a:prstGeom>
          <a:solidFill>
            <a:srgbClr val="0E2040"/>
          </a:solidFill>
          <a:ln w="12700">
            <a:solidFill>
              <a:srgbClr val="FFA000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8" name="Shape 43"/>
          <p:cNvSpPr/>
          <p:nvPr/>
        </p:nvSpPr>
        <p:spPr>
          <a:xfrm>
            <a:off x="7982712" y="1490472"/>
            <a:ext cx="914400" cy="914400"/>
          </a:xfrm>
          <a:prstGeom prst="ellips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728" y="1618488"/>
            <a:ext cx="640080" cy="640080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7360920" y="249631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&amp; AI</a:t>
            </a:r>
            <a:endParaRPr lang="en-US" sz="1400" dirty="0"/>
          </a:p>
        </p:txBody>
      </p:sp>
      <p:sp>
        <p:nvSpPr>
          <p:cNvPr id="51" name="Shape 45"/>
          <p:cNvSpPr/>
          <p:nvPr/>
        </p:nvSpPr>
        <p:spPr>
          <a:xfrm>
            <a:off x="7543800" y="3108960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FFA00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2" name="Text 46"/>
          <p:cNvSpPr/>
          <p:nvPr/>
        </p:nvSpPr>
        <p:spPr>
          <a:xfrm>
            <a:off x="7543800" y="3108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050" dirty="0"/>
          </a:p>
        </p:txBody>
      </p:sp>
      <p:sp>
        <p:nvSpPr>
          <p:cNvPr id="53" name="Shape 47"/>
          <p:cNvSpPr/>
          <p:nvPr/>
        </p:nvSpPr>
        <p:spPr>
          <a:xfrm>
            <a:off x="7543800" y="3767328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FFA00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4" name="Text 48"/>
          <p:cNvSpPr/>
          <p:nvPr/>
        </p:nvSpPr>
        <p:spPr>
          <a:xfrm>
            <a:off x="7543800" y="376732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050" dirty="0"/>
          </a:p>
        </p:txBody>
      </p:sp>
      <p:sp>
        <p:nvSpPr>
          <p:cNvPr id="55" name="Shape 49"/>
          <p:cNvSpPr/>
          <p:nvPr/>
        </p:nvSpPr>
        <p:spPr>
          <a:xfrm>
            <a:off x="7543800" y="4425696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FFA00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6" name="Text 50"/>
          <p:cNvSpPr/>
          <p:nvPr/>
        </p:nvSpPr>
        <p:spPr>
          <a:xfrm>
            <a:off x="7543800" y="442569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Loops</a:t>
            </a:r>
            <a:endParaRPr lang="en-US" sz="1050" dirty="0"/>
          </a:p>
        </p:txBody>
      </p:sp>
      <p:sp>
        <p:nvSpPr>
          <p:cNvPr id="57" name="Shape 51"/>
          <p:cNvSpPr/>
          <p:nvPr/>
        </p:nvSpPr>
        <p:spPr>
          <a:xfrm>
            <a:off x="7543800" y="5084064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FFA00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8" name="Text 52"/>
          <p:cNvSpPr/>
          <p:nvPr/>
        </p:nvSpPr>
        <p:spPr>
          <a:xfrm>
            <a:off x="7543800" y="508406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050" dirty="0"/>
          </a:p>
        </p:txBody>
      </p:sp>
      <p:sp>
        <p:nvSpPr>
          <p:cNvPr id="59" name="Shape 53"/>
          <p:cNvSpPr/>
          <p:nvPr/>
        </p:nvSpPr>
        <p:spPr>
          <a:xfrm>
            <a:off x="7543800" y="5742432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FFA00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0" name="Text 54"/>
          <p:cNvSpPr/>
          <p:nvPr/>
        </p:nvSpPr>
        <p:spPr>
          <a:xfrm>
            <a:off x="7543800" y="57424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</a:t>
            </a:r>
            <a:endParaRPr lang="en-US" sz="1050" dirty="0"/>
          </a:p>
        </p:txBody>
      </p:sp>
      <p:sp>
        <p:nvSpPr>
          <p:cNvPr id="61" name="Shape 55"/>
          <p:cNvSpPr/>
          <p:nvPr/>
        </p:nvSpPr>
        <p:spPr>
          <a:xfrm>
            <a:off x="9692640" y="1325880"/>
            <a:ext cx="2148840" cy="5029200"/>
          </a:xfrm>
          <a:prstGeom prst="roundRect">
            <a:avLst>
              <a:gd name="adj" fmla="val 7660"/>
            </a:avLst>
          </a:prstGeom>
          <a:solidFill>
            <a:srgbClr val="0E2040"/>
          </a:solidFill>
          <a:ln w="12700">
            <a:solidFill>
              <a:srgbClr val="C62828">
                <a:alpha val="4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62" name="Shape 56"/>
          <p:cNvSpPr/>
          <p:nvPr/>
        </p:nvSpPr>
        <p:spPr>
          <a:xfrm>
            <a:off x="10314432" y="1490472"/>
            <a:ext cx="914400" cy="9144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6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2448" y="1618488"/>
            <a:ext cx="640080" cy="640080"/>
          </a:xfrm>
          <a:prstGeom prst="rect">
            <a:avLst/>
          </a:prstGeom>
        </p:spPr>
      </p:pic>
      <p:sp>
        <p:nvSpPr>
          <p:cNvPr id="64" name="Text 57"/>
          <p:cNvSpPr/>
          <p:nvPr/>
        </p:nvSpPr>
        <p:spPr>
          <a:xfrm>
            <a:off x="9692640" y="249631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400" dirty="0"/>
          </a:p>
        </p:txBody>
      </p:sp>
      <p:sp>
        <p:nvSpPr>
          <p:cNvPr id="65" name="Shape 58"/>
          <p:cNvSpPr/>
          <p:nvPr/>
        </p:nvSpPr>
        <p:spPr>
          <a:xfrm>
            <a:off x="9875520" y="3108960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C6282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6" name="Text 59"/>
          <p:cNvSpPr/>
          <p:nvPr/>
        </p:nvSpPr>
        <p:spPr>
          <a:xfrm>
            <a:off x="9875520" y="3108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050" dirty="0"/>
          </a:p>
        </p:txBody>
      </p:sp>
      <p:sp>
        <p:nvSpPr>
          <p:cNvPr id="67" name="Shape 60"/>
          <p:cNvSpPr/>
          <p:nvPr/>
        </p:nvSpPr>
        <p:spPr>
          <a:xfrm>
            <a:off x="9875520" y="3767328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C6282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8" name="Text 61"/>
          <p:cNvSpPr/>
          <p:nvPr/>
        </p:nvSpPr>
        <p:spPr>
          <a:xfrm>
            <a:off x="9875520" y="376732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050" dirty="0"/>
          </a:p>
        </p:txBody>
      </p:sp>
      <p:sp>
        <p:nvSpPr>
          <p:cNvPr id="69" name="Shape 62"/>
          <p:cNvSpPr/>
          <p:nvPr/>
        </p:nvSpPr>
        <p:spPr>
          <a:xfrm>
            <a:off x="9875520" y="4425696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C6282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70" name="Text 63"/>
          <p:cNvSpPr/>
          <p:nvPr/>
        </p:nvSpPr>
        <p:spPr>
          <a:xfrm>
            <a:off x="9875520" y="442569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Reviews</a:t>
            </a:r>
            <a:endParaRPr lang="en-US" sz="1050" dirty="0"/>
          </a:p>
        </p:txBody>
      </p:sp>
      <p:sp>
        <p:nvSpPr>
          <p:cNvPr id="71" name="Shape 64"/>
          <p:cNvSpPr/>
          <p:nvPr/>
        </p:nvSpPr>
        <p:spPr>
          <a:xfrm>
            <a:off x="9875520" y="5084064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C6282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72" name="Text 65"/>
          <p:cNvSpPr/>
          <p:nvPr/>
        </p:nvSpPr>
        <p:spPr>
          <a:xfrm>
            <a:off x="9875520" y="508406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050" dirty="0"/>
          </a:p>
        </p:txBody>
      </p:sp>
      <p:sp>
        <p:nvSpPr>
          <p:cNvPr id="73" name="Shape 66"/>
          <p:cNvSpPr/>
          <p:nvPr/>
        </p:nvSpPr>
        <p:spPr>
          <a:xfrm>
            <a:off x="9875520" y="5742432"/>
            <a:ext cx="1783080" cy="502920"/>
          </a:xfrm>
          <a:prstGeom prst="rect">
            <a:avLst/>
          </a:prstGeom>
          <a:solidFill>
            <a:srgbClr val="172844"/>
          </a:solidFill>
          <a:ln w="12700">
            <a:solidFill>
              <a:srgbClr val="C6282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74" name="Text 67"/>
          <p:cNvSpPr/>
          <p:nvPr/>
        </p:nvSpPr>
        <p:spPr>
          <a:xfrm>
            <a:off x="9875520" y="57424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REQUIREMENTS &amp; IMPORTANT NOTES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143000"/>
            <a:ext cx="5486400" cy="516636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E3F2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5212080" cy="566928"/>
          </a:xfrm>
          <a:prstGeom prst="roundRect">
            <a:avLst>
              <a:gd name="adj" fmla="val 19355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98448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8992" y="1298448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REQUIREMENTS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6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70432" y="192024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must bring their own personal laptop to every session.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Text 9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170432" y="283464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software must be pre-installed before the first day of class.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2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170432" y="374904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hardware: 500 GB SSD Hard Disk &amp; 16 GB RAM.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4709160"/>
            <a:ext cx="5120640" cy="292608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5"/>
          <p:cNvSpPr/>
          <p:nvPr/>
        </p:nvSpPr>
        <p:spPr>
          <a:xfrm>
            <a:off x="640080" y="47091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SOFTWARE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48640" y="5074920"/>
            <a:ext cx="274320" cy="256032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7"/>
          <p:cNvSpPr/>
          <p:nvPr/>
        </p:nvSpPr>
        <p:spPr>
          <a:xfrm>
            <a:off x="914400" y="50749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(Developer Edition)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5422392"/>
            <a:ext cx="274320" cy="256032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Text 19"/>
          <p:cNvSpPr/>
          <p:nvPr/>
        </p:nvSpPr>
        <p:spPr>
          <a:xfrm>
            <a:off x="914400" y="54223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2022 (Community or higher)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48640" y="5769864"/>
            <a:ext cx="274320" cy="256032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Text 21"/>
          <p:cNvSpPr/>
          <p:nvPr/>
        </p:nvSpPr>
        <p:spPr>
          <a:xfrm>
            <a:off x="914400" y="57698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CLI v20 (via Node.js / npm)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309360" y="1143000"/>
            <a:ext cx="5486400" cy="5166360"/>
          </a:xfrm>
          <a:prstGeom prst="roundRect">
            <a:avLst>
              <a:gd name="adj" fmla="val 31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23"/>
          <p:cNvSpPr/>
          <p:nvPr/>
        </p:nvSpPr>
        <p:spPr>
          <a:xfrm>
            <a:off x="6446520" y="1234440"/>
            <a:ext cx="5212080" cy="566928"/>
          </a:xfrm>
          <a:prstGeom prst="roundRect">
            <a:avLst>
              <a:gd name="adj" fmla="val 19355"/>
            </a:avLst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Text 24"/>
          <p:cNvSpPr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COMPANY INFO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492240" y="1965960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13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KE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12264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949440" y="205740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 +91 814 353 3535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6492240" y="2695575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13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841879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949440" y="2787015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 info@visionerpsolutions.com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6492240" y="3427094"/>
            <a:ext cx="5120640" cy="1373505"/>
          </a:xfrm>
          <a:prstGeom prst="roundRect">
            <a:avLst>
              <a:gd name="adj" fmla="val 16129"/>
            </a:avLst>
          </a:prstGeom>
          <a:solidFill>
            <a:srgbClr val="13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006215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949440" y="3759899"/>
            <a:ext cx="4480560" cy="766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Address:  VisionOne Access Private Limited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No: 3-225 &amp; 226, 4th Floor, Mahendra Mindspace,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Kavuri Hills Phase 2,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Madhapur, Hyderabad, Telangana, India – 500033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6492240" y="4937760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FFA000">
              <a:alpha val="85000"/>
            </a:srgbClr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2" name="Text 34"/>
          <p:cNvSpPr/>
          <p:nvPr/>
        </p:nvSpPr>
        <p:spPr>
          <a:xfrm>
            <a:off x="6583680" y="49377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Registration No:  36AALCV9084F1ZR</a:t>
            </a:r>
            <a:endParaRPr lang="en-US" sz="1300" dirty="0"/>
          </a:p>
        </p:txBody>
      </p:sp>
      <p:sp>
        <p:nvSpPr>
          <p:cNvPr id="43" name="Text 35">
            <a:hlinkClick r:id="rId7"/>
          </p:cNvPr>
          <p:cNvSpPr/>
          <p:nvPr/>
        </p:nvSpPr>
        <p:spPr>
          <a:xfrm>
            <a:off x="6492240" y="55778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u="sng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www.visionerpsolutions.com</a:t>
            </a:r>
            <a:endParaRPr lang="en-US" sz="1300" dirty="0"/>
          </a:p>
        </p:txBody>
      </p:sp>
      <p:sp>
        <p:nvSpPr>
          <p:cNvPr id="44" name="Shape 36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5" name="Text 37"/>
          <p:cNvSpPr/>
          <p:nvPr/>
        </p:nvSpPr>
        <p:spPr>
          <a:xfrm>
            <a:off x="274320" y="64739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NOTE: Laptop, installed software, and hardware specs are the student's responsibility. Ensure readiness before Day 1.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6400800" cy="6400800"/>
          </a:xfrm>
          <a:prstGeom prst="ellipse">
            <a:avLst/>
          </a:prstGeom>
          <a:solidFill>
            <a:srgbClr val="00838F">
              <a:alpha val="15000"/>
            </a:srgbClr>
          </a:solidFill>
          <a:ln w="12700">
            <a:solidFill>
              <a:srgbClr val="00838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976D2">
              <a:alpha val="15000"/>
            </a:srgbClr>
          </a:solidFill>
          <a:ln w="12700">
            <a:solidFill>
              <a:srgbClr val="1976D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&amp; PROGRAM EMPHASIS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7315200" cy="36576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7" name="Shape 4"/>
          <p:cNvSpPr/>
          <p:nvPr/>
        </p:nvSpPr>
        <p:spPr>
          <a:xfrm>
            <a:off x="365760" y="1097280"/>
            <a:ext cx="6217920" cy="3474720"/>
          </a:xfrm>
          <a:prstGeom prst="roundRect">
            <a:avLst>
              <a:gd name="adj" fmla="val 4737"/>
            </a:avLst>
          </a:prstGeom>
          <a:solidFill>
            <a:srgbClr val="0E2040"/>
          </a:solidFill>
          <a:ln w="12700">
            <a:solidFill>
              <a:srgbClr val="FFA000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548640" y="123444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A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– CAPSTONE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57607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pick a scoped feature from a real/realistic ERP backlog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design doc: UI wireframes, API endpoints, DB schema, AI integration plan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end-to-end feature on top of the existing mini-ERP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integrate AI assistant / agent into the new feature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demo, live code walkthrough &amp; peer feedback session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0" y="109728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0E2040"/>
          </a:solidFill>
          <a:ln w="12700">
            <a:solidFill>
              <a:srgbClr val="1976D2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1" name="Shape 8"/>
          <p:cNvSpPr/>
          <p:nvPr/>
        </p:nvSpPr>
        <p:spPr>
          <a:xfrm>
            <a:off x="6949440" y="1216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Text 9"/>
          <p:cNvSpPr/>
          <p:nvPr/>
        </p:nvSpPr>
        <p:spPr>
          <a:xfrm>
            <a:off x="7479792" y="1170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Fundamentals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479792" y="15361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Angular, .NET 8, SQL Server from ground up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58000" y="2176272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0E2040"/>
          </a:solidFill>
          <a:ln w="12700">
            <a:solidFill>
              <a:srgbClr val="00838F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6949440" y="22951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3"/>
          <p:cNvSpPr/>
          <p:nvPr/>
        </p:nvSpPr>
        <p:spPr>
          <a:xfrm>
            <a:off x="7479792" y="22494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Practices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479792" y="261518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PRs, CI, code reviews, error handling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858000" y="3255264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0E2040"/>
          </a:solidFill>
          <a:ln w="12700">
            <a:solidFill>
              <a:srgbClr val="FFA000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Shape 16"/>
          <p:cNvSpPr/>
          <p:nvPr/>
        </p:nvSpPr>
        <p:spPr>
          <a:xfrm>
            <a:off x="6949440" y="33741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7"/>
          <p:cNvSpPr/>
          <p:nvPr/>
        </p:nvSpPr>
        <p:spPr>
          <a:xfrm>
            <a:off x="7479792" y="332841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Accelerator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479792" y="369417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Claude/AI for coding speed &amp; documentation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858000" y="4334256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0E2040"/>
          </a:solidFill>
          <a:ln w="12700">
            <a:solidFill>
              <a:srgbClr val="9C27B0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20"/>
          <p:cNvSpPr/>
          <p:nvPr/>
        </p:nvSpPr>
        <p:spPr>
          <a:xfrm>
            <a:off x="6949440" y="44531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21"/>
          <p:cNvSpPr/>
          <p:nvPr/>
        </p:nvSpPr>
        <p:spPr>
          <a:xfrm>
            <a:off x="7479792" y="44074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Integration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479792" y="477316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agent directly wired to mini-ERP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858000" y="5413248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0E2040"/>
          </a:solidFill>
          <a:ln w="12700">
            <a:solidFill>
              <a:srgbClr val="2E7D32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24"/>
          <p:cNvSpPr/>
          <p:nvPr/>
        </p:nvSpPr>
        <p:spPr>
          <a:xfrm>
            <a:off x="6949440" y="5532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Text 25"/>
          <p:cNvSpPr/>
          <p:nvPr/>
        </p:nvSpPr>
        <p:spPr>
          <a:xfrm>
            <a:off x="7479792" y="5486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Capstone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479792" y="58521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Demo-ready, real feature, production standards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0" y="6355080"/>
            <a:ext cx="12161520" cy="502920"/>
          </a:xfrm>
          <a:prstGeom prst="rect">
            <a:avLst/>
          </a:prstGeom>
          <a:solidFill>
            <a:srgbClr val="1976D2">
              <a:alpha val="80000"/>
            </a:srgbClr>
          </a:solidFill>
          <a:ln w="12700">
            <a:solidFill>
              <a:srgbClr val="1976D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Text 28"/>
          <p:cNvSpPr/>
          <p:nvPr/>
        </p:nvSpPr>
        <p:spPr>
          <a:xfrm>
            <a:off x="274320" y="635508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Visioner ERP Solutions  |  info@visionerpsolutions.com  |  +91 814 353 3535 |  www.visionerpsolutions.com  |  GST: 36AALCV9084F1ZR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879</Words>
  <Application>Microsoft Office PowerPoint</Application>
  <PresentationFormat>Widescreen</PresentationFormat>
  <Paragraphs>188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Visioner ERP Solutions – Training Syllabus</dc:title>
  <dc:subject>PptxGenJS Presentation</dc:subject>
  <dc:creator>PptxGenJS</dc:creator>
  <cp:lastModifiedBy>Sai Srinivas</cp:lastModifiedBy>
  <cp:revision>3</cp:revision>
  <dcterms:created xsi:type="dcterms:W3CDTF">2026-06-22T07:16:13Z</dcterms:created>
  <dcterms:modified xsi:type="dcterms:W3CDTF">2026-06-22T08:06:02Z</dcterms:modified>
</cp:coreProperties>
</file>