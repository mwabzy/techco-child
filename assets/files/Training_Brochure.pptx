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Illustrative AI-Skills Demand Trend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Developer Demand Index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58</c:v>
                </c:pt>
                <c:pt idx="2">
                  <c:v>74</c:v>
                </c:pt>
                <c:pt idx="3">
                  <c:v>89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48-4924-A60E-38C5050E03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78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1.png"/><Relationship Id="rId5" Type="http://schemas.openxmlformats.org/officeDocument/2006/relationships/image" Target="../media/image25.png"/><Relationship Id="rId10" Type="http://schemas.openxmlformats.org/officeDocument/2006/relationships/image" Target="../media/image23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6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731520"/>
            <a:ext cx="3200400" cy="3200400"/>
          </a:xfrm>
          <a:prstGeom prst="ellipse">
            <a:avLst/>
          </a:prstGeom>
          <a:solidFill>
            <a:srgbClr val="132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5212080"/>
            <a:ext cx="960120" cy="594360"/>
          </a:xfrm>
          <a:prstGeom prst="line">
            <a:avLst/>
          </a:prstGeom>
          <a:noFill/>
          <a:ln w="15875">
            <a:solidFill>
              <a:srgbClr val="243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212080"/>
            <a:ext cx="320040" cy="960120"/>
          </a:xfrm>
          <a:prstGeom prst="line">
            <a:avLst/>
          </a:prstGeom>
          <a:noFill/>
          <a:ln w="15875">
            <a:solidFill>
              <a:srgbClr val="243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594360" cy="685800"/>
          </a:xfrm>
          <a:prstGeom prst="line">
            <a:avLst/>
          </a:prstGeom>
          <a:noFill/>
          <a:ln w="15875">
            <a:solidFill>
              <a:srgbClr val="243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83080" y="5074920"/>
            <a:ext cx="640080" cy="731520"/>
          </a:xfrm>
          <a:prstGeom prst="line">
            <a:avLst/>
          </a:prstGeom>
          <a:noFill/>
          <a:ln w="15875">
            <a:solidFill>
              <a:srgbClr val="243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4526280"/>
            <a:ext cx="1005840" cy="548640"/>
          </a:xfrm>
          <a:prstGeom prst="line">
            <a:avLst/>
          </a:prstGeom>
          <a:noFill/>
          <a:ln w="15875">
            <a:solidFill>
              <a:srgbClr val="2434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1812" y="517093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41932" y="576529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" y="613105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82012" y="503377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6172" y="4485132"/>
            <a:ext cx="82296" cy="8229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1371600"/>
            <a:ext cx="3429000" cy="420624"/>
          </a:xfrm>
          <a:prstGeom prst="roundRect">
            <a:avLst>
              <a:gd name="adj" fmla="val 50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1426464"/>
            <a:ext cx="310896" cy="31089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1473098"/>
            <a:ext cx="217627" cy="21762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35024" y="13716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CAREER-READY TRAINING PROGRAM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" y="20116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Code Development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841248" y="32004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Future of Software with Artificial Intelligence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822960" y="41148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50976" y="4242816"/>
            <a:ext cx="292608" cy="29260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" y="4286707"/>
            <a:ext cx="204826" cy="20482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25880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383280" y="41148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511296" y="4242816"/>
            <a:ext cx="292608" cy="29260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187" y="4286707"/>
            <a:ext cx="204826" cy="20482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86200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943600" y="41148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071616" y="4242816"/>
            <a:ext cx="292608" cy="29260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507" y="4286707"/>
            <a:ext cx="204826" cy="20482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46520" y="4114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22960" y="6263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VISIONONE ERP SOLUTIONS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943600" y="626364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Full-Stack + Generative &amp; Agentic AI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Code Development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being rebuilt around AI. Developers who can pair human judgment with AI-powered tools now ship features faster, with fewer bugs, and at a scale that was impossible just a few years ago.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715768"/>
            <a:ext cx="457200" cy="45720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25112" y="2514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26280" y="2715768"/>
            <a:ext cx="457200" cy="45720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01584" y="2514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02752" y="2715768"/>
            <a:ext cx="457200" cy="45720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445312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457200" cy="45720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25112" y="445312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4654296"/>
            <a:ext cx="457200" cy="45720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01584" y="4453128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02752" y="4654296"/>
            <a:ext cx="457200" cy="45720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264408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357530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suggestions, autocompletion, and full functions generated in real time.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3264408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6280" y="357530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— scaffolding, formatting, boilerplate — handled automatically.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02752" y="3264408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2752" y="357530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move from concept to working application in a fraction of the time.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5202936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Testing &amp; Debugging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551383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bugs, suggests fixes, and writes test cases alongside developers.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5202936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26280" y="551383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that reason, automate workflows, and adapt to users.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02752" y="5202936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Adoption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02752" y="551383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of every size are standardizing on AI-powered dev tools.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2784348"/>
            <a:ext cx="320040" cy="320040"/>
          </a:xfrm>
          <a:prstGeom prst="rect">
            <a:avLst/>
          </a:prstGeom>
        </p:spPr>
      </p:pic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332" y="2784348"/>
            <a:ext cx="320040" cy="320040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84348"/>
            <a:ext cx="320040" cy="320040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722876"/>
            <a:ext cx="320040" cy="320040"/>
          </a:xfrm>
          <a:prstGeom prst="rect">
            <a:avLst/>
          </a:prstGeom>
        </p:spPr>
      </p:pic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" y="4722876"/>
            <a:ext cx="320040" cy="320040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1332" y="4722876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Scope and Job Opportunities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developers who can build with AI is climbing across every sector. Here are the roles this program prepares you for: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084832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1396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43230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1920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83864" y="2084832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1396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243230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Software Engineer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9904" y="1920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54496" y="2084832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396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4496" y="243230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860536" y="1920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025128" y="2084832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213969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25128" y="2432304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Developer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295351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13232" y="311810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17296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" y="346557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19272" y="295351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3483864" y="311810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317296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83864" y="346557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Developer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89904" y="295351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254496" y="311810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7296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54496" y="346557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Integration Specialist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860536" y="295351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9025128" y="311810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3172968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25128" y="3465576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(AI skills)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ACROSS INDUSTRIES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54864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94183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583887"/>
            <a:ext cx="268834" cy="26883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9436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Software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178308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2"/>
          <p:cNvSpPr/>
          <p:nvPr/>
        </p:nvSpPr>
        <p:spPr>
          <a:xfrm>
            <a:off x="217627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879" y="4583887"/>
            <a:ext cx="268834" cy="26883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82880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301752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5"/>
          <p:cNvSpPr/>
          <p:nvPr/>
        </p:nvSpPr>
        <p:spPr>
          <a:xfrm>
            <a:off x="341071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319" y="4583887"/>
            <a:ext cx="268834" cy="268834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306324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Firms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425196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8"/>
          <p:cNvSpPr/>
          <p:nvPr/>
        </p:nvSpPr>
        <p:spPr>
          <a:xfrm>
            <a:off x="464515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59" y="4583887"/>
            <a:ext cx="268834" cy="268834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429768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548640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1"/>
          <p:cNvSpPr/>
          <p:nvPr/>
        </p:nvSpPr>
        <p:spPr>
          <a:xfrm>
            <a:off x="587959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199" y="4583887"/>
            <a:ext cx="268834" cy="268834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553212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672084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4"/>
          <p:cNvSpPr/>
          <p:nvPr/>
        </p:nvSpPr>
        <p:spPr>
          <a:xfrm>
            <a:off x="711403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1639" y="4583887"/>
            <a:ext cx="268834" cy="268834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676656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795528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7"/>
          <p:cNvSpPr/>
          <p:nvPr/>
        </p:nvSpPr>
        <p:spPr>
          <a:xfrm>
            <a:off x="834847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6079" y="4583887"/>
            <a:ext cx="268834" cy="268834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800100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66" name="Shape 49"/>
          <p:cNvSpPr/>
          <p:nvPr/>
        </p:nvSpPr>
        <p:spPr>
          <a:xfrm>
            <a:off x="918972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0"/>
          <p:cNvSpPr/>
          <p:nvPr/>
        </p:nvSpPr>
        <p:spPr>
          <a:xfrm>
            <a:off x="958291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0519" y="4583887"/>
            <a:ext cx="268834" cy="268834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923544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70" name="Shape 52"/>
          <p:cNvSpPr/>
          <p:nvPr/>
        </p:nvSpPr>
        <p:spPr>
          <a:xfrm>
            <a:off x="10424160" y="4343400"/>
            <a:ext cx="1170432" cy="1417320"/>
          </a:xfrm>
          <a:prstGeom prst="roundRect">
            <a:avLst>
              <a:gd name="adj" fmla="val 5469"/>
            </a:avLst>
          </a:prstGeom>
          <a:solidFill>
            <a:srgbClr val="16275A"/>
          </a:solidFill>
          <a:ln w="9525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53"/>
          <p:cNvSpPr/>
          <p:nvPr/>
        </p:nvSpPr>
        <p:spPr>
          <a:xfrm>
            <a:off x="10817352" y="4526280"/>
            <a:ext cx="384048" cy="384048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4959" y="4583887"/>
            <a:ext cx="268834" cy="268834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10469880" y="505663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00" dirty="0"/>
          </a:p>
        </p:txBody>
      </p:sp>
      <p:sp>
        <p:nvSpPr>
          <p:cNvPr id="74" name="Text 55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75" name="Text 56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 and Industry Demand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F1F47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1572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piloting or scaling AI dev tools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70048" y="14630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F1F47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16352" y="1572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16352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prototyping with AI coding copilots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91456" y="14630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F1F47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21214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skill in software job posts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3198571"/>
            <a:ext cx="204826" cy="20482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31181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across sectors are adopting AI-powered development platforms to cut delivery time and cost.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76472"/>
            <a:ext cx="292608" cy="292608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3820363"/>
            <a:ext cx="204826" cy="204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05840" y="37398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developers fluent in AI tools is outpacing demand for traditional-only coding roles.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4398264"/>
            <a:ext cx="292608" cy="292608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4442155"/>
            <a:ext cx="204826" cy="2048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43616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of software will be built with AI as a standard collaborator, not an add-on.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903720" y="1417320"/>
          <a:ext cx="47548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7"/>
          <p:cNvSpPr/>
          <p:nvPr/>
        </p:nvSpPr>
        <p:spPr>
          <a:xfrm>
            <a:off x="690372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trend, illustrative — for orientation only, not a market forecast.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42" y="5410962"/>
            <a:ext cx="288036" cy="2880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51663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for AI-skilled developers varies by location, experience, tools used, and project complexity — see next slide for indicative ranges.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POTENTIAL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Range by Experience Level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017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(Annual, INR)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/ US (Annual, 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Level AI Code Developer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 – 7 LPA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$65,000 – $85,000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AI Developer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 – 12 LPA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$85,000 – $105,000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Mid-Level AI Software Engineer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 – 22 LPA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$105,000 – $140,000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AI Developer / AI 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 – 40+ LPA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$140,000 – $190,000+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 market estimates compiled for orientation purposes. Actual compensation varies by city, company size, industry, AI tools/stack expertise, and project portfolio.</a:t>
            </a:r>
            <a:endParaRPr lang="en-US" sz="1000" dirty="0"/>
          </a:p>
        </p:txBody>
      </p:sp>
      <p:sp>
        <p:nvSpPr>
          <p:cNvPr id="4" name="Shape 3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40410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46120" y="5349240"/>
            <a:ext cx="365760" cy="36576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54041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0332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0" y="5349240"/>
            <a:ext cx="365760" cy="36576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54041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8641080" y="5349240"/>
            <a:ext cx="365760" cy="365760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540410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Expertise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Training Is Needed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demands both solid programming fundamentals and hands-on fluency with AI tools. Self-learning from scattered tutorials is slow and often confusing — structured training closes that gap.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23060" y="248716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5557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0906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Syllabus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93692" y="248716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55574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0906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9904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164324" y="248716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5557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9632" y="30906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Coding Practice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860536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934956" y="248716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255574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70264" y="30906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Exposure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82219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623060" y="40233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40919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8368" y="462686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Building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19272" y="382219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393692" y="40233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40919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29000" y="462686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89904" y="382219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164324" y="40233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2904" y="409194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99632" y="462686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860536" y="382219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9934956" y="40233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3536" y="4091940"/>
            <a:ext cx="320040" cy="3200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970264" y="462686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 Path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VISIONE ERP SOLUTIONS</a:t>
            </a:r>
            <a:endParaRPr lang="en-US" sz="850" dirty="0"/>
          </a:p>
        </p:txBody>
      </p:sp>
      <p:sp>
        <p:nvSpPr>
          <p:cNvPr id="38" name="Text 28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Syllabus — 10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61391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6139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572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61872" y="1773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and AI in Software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239115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3911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23500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2551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Foundations for AI Development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16839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1683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127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and Productivity Platforms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394563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9456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3904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61872" y="4105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Developers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232" y="472287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7228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681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61872" y="4882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AI-Powered Applications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150876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36792" y="161391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16139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85432" y="1572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85432" y="1773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Automation, and AI Integration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28600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36792" y="239115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36792" y="23911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85432" y="23500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85432" y="2551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Testing, and Code Optimization with AI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06324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36792" y="316839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36792" y="31683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85432" y="3127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85432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Deployment, and Cloud Basics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384048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36792" y="394563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36792" y="39456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85432" y="3904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85432" y="4105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 and Case Studies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4617720"/>
            <a:ext cx="544068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36792" y="4722876"/>
            <a:ext cx="438912" cy="438912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36792" y="47228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85432" y="4681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85432" y="4882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Portfolio, and Interview Preparation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 LEARN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Projects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connects to practical build work. By graduation, you'll have shipped a portfolio of real AI-powered applications.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475488" cy="47548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2238451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5234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08152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built with LLM integration.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26280" y="2167128"/>
            <a:ext cx="475488" cy="47548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603" y="2238451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75234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26280" y="308152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and scores resumes using AI-driven analysis.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02752" y="2167128"/>
            <a:ext cx="475488" cy="47548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075" y="2238451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75234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Assistant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02752" y="308152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that generates and explains boilerplate code.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" y="4204411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71830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Tool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9808" y="504748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test case generation and execution.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26280" y="4133088"/>
            <a:ext cx="475488" cy="47548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603" y="4204411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71830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Automation Workflow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26280" y="504748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automation using AI agents.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02752" y="4133088"/>
            <a:ext cx="475488" cy="47548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4075" y="4204411"/>
            <a:ext cx="332842" cy="33284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71830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Web Application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02752" y="504748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 with embedded AI capabilities.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Training Investment Is Worth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1571854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Expert Trainers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30552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" y="2193646"/>
            <a:ext cx="294437" cy="2944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305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 Sessions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752344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" y="2815438"/>
            <a:ext cx="294437" cy="2944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523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374136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4" y="3437230"/>
            <a:ext cx="294437" cy="29443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7413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Industry-Relevant Tools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035040" y="1508760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8134" y="1571854"/>
            <a:ext cx="294437" cy="29443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83680" y="15087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Support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035040" y="2130552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8134" y="2193646"/>
            <a:ext cx="294437" cy="29443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83680" y="21305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035040" y="2752344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8134" y="2815438"/>
            <a:ext cx="294437" cy="294437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583680" y="27523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Portfolio-Ready Projects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035040" y="3374136"/>
            <a:ext cx="420624" cy="420624"/>
          </a:xfrm>
          <a:prstGeom prst="ellipse">
            <a:avLst/>
          </a:prstGeom>
          <a:solidFill>
            <a:srgbClr val="E6FA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8134" y="3437230"/>
            <a:ext cx="294437" cy="294437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583680" y="337413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vs. Self-Learning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F1F47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19"/>
          <p:cNvSpPr/>
          <p:nvPr/>
        </p:nvSpPr>
        <p:spPr>
          <a:xfrm>
            <a:off x="868680" y="4800600"/>
            <a:ext cx="685800" cy="6858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550" y="4903470"/>
            <a:ext cx="480060" cy="4800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828800" y="46177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Earning Potential After Skill Development</a:t>
            </a:r>
            <a:endParaRPr lang="en-US" sz="1500" dirty="0"/>
          </a:p>
        </p:txBody>
      </p:sp>
      <p:sp>
        <p:nvSpPr>
          <p:cNvPr id="32" name="Text 21"/>
          <p:cNvSpPr/>
          <p:nvPr/>
        </p:nvSpPr>
        <p:spPr>
          <a:xfrm>
            <a:off x="1828800" y="4983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investment in AI development skills pays back through faster hiring, stronger offers, and access to roles unavailable to traditional-only developers.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34" name="Text 23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JOINING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Students and Professionals Should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8242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31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Are Becoming Essential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7614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is shifting from a differentiator to a baseline expectation for developers.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26280" y="175564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8242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331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Roles Are Evolving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7614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jobs are being redefined around AI-augmented workflows.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5544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02752" y="175564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2" y="182422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3317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Faster, Solve More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02752" y="276148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AI-trained developers move quicker and tackle more complex problems.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9808" y="376732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383590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343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Pay, Better Opportunities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7731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AI-skilled developers command stronger offers and faster growth.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3566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26280" y="376732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383590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343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Relevant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47731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your career against an AI-driven job market.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01584" y="3566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02752" y="3767328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1332" y="383590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343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Confidence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02752" y="47731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working on genuine AI-enabled projects.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WALK AWAY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this program, you will be able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22242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coding tools effectively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53912" y="19202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36792" y="2148840"/>
            <a:ext cx="502920" cy="502920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22242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19202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AI-powered applications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4495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31520" y="3273552"/>
            <a:ext cx="502920" cy="502920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" y="3348990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0449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APIs into real systems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53912" y="304495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336792" y="3273552"/>
            <a:ext cx="502920" cy="502920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230" y="3348990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22592" y="30449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development tasks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16966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31520" y="4398264"/>
            <a:ext cx="502920" cy="502920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58" y="4473702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169664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portfolio of AI projects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153912" y="416966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336792" y="4398264"/>
            <a:ext cx="502920" cy="502920"/>
          </a:xfrm>
          <a:prstGeom prst="ellipse">
            <a:avLst/>
          </a:prstGeom>
          <a:solidFill>
            <a:srgbClr val="0F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230" y="4473702"/>
            <a:ext cx="352044" cy="3520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22592" y="4169664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AI developer roles with confidence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6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3657600"/>
            <a:ext cx="4114800" cy="4114800"/>
          </a:xfrm>
          <a:prstGeom prst="ellipse">
            <a:avLst/>
          </a:prstGeom>
          <a:solidFill>
            <a:srgbClr val="1627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AI CODE DEVELOPMENT JOURNEY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for the Future of Software Careers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4526280"/>
          </a:xfrm>
          <a:prstGeom prst="roundRect">
            <a:avLst>
              <a:gd name="adj" fmla="val 238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87" y="2663647"/>
            <a:ext cx="268834" cy="2688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27632" y="25877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627632" y="2770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VisionONE ERP Solutions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97280" y="333756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" y="3395167"/>
            <a:ext cx="268834" cy="2688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27632" y="33192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NUMBER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627632" y="3502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+91-8143533535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97280" y="406908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887" y="4126687"/>
            <a:ext cx="268834" cy="2688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27632" y="40507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627632" y="4233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info@visionerpsolutions.com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097280" y="480060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887" y="4858207"/>
            <a:ext cx="268834" cy="2688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7632" y="47823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627632" y="4965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www.visionerpsolutions.com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26480" y="19659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16275A"/>
          </a:solidFill>
          <a:ln w="12700">
            <a:solidFill>
              <a:srgbClr val="26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40080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DETAILS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0" y="260604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407" y="2663647"/>
            <a:ext cx="268834" cy="26883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1152" y="2587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DURATION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6931152" y="2770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(3 Months)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8407" y="3395167"/>
            <a:ext cx="268834" cy="2688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31152" y="33192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FEE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6931152" y="3502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Contact for Fee Details ]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0" y="4069080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8407" y="4126687"/>
            <a:ext cx="268834" cy="26883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31152" y="40507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START DATE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6931152" y="4233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Batch Start Date ]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400800" y="4846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Live online or classroom · Mon–Fri, 3–4 hrs/day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DEVELOPMENT  |  VISIONONE ERP SOLUTIONS</a:t>
            </a: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2D43C6A3-BC8F-D834-A78F-973E49DC8F64}"/>
              </a:ext>
            </a:extLst>
          </p:cNvPr>
          <p:cNvSpPr/>
          <p:nvPr/>
        </p:nvSpPr>
        <p:spPr>
          <a:xfrm>
            <a:off x="1099961" y="5501945"/>
            <a:ext cx="384048" cy="38404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Graphic 41" descr="Marker with solid fill">
            <a:extLst>
              <a:ext uri="{FF2B5EF4-FFF2-40B4-BE49-F238E27FC236}">
                <a16:creationId xmlns:a16="http://schemas.microsoft.com/office/drawing/2014/main" id="{D8E97201-1719-6EC2-99DB-A0D84F45B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280" y="5519612"/>
            <a:ext cx="384048" cy="384048"/>
          </a:xfrm>
          <a:prstGeom prst="rect">
            <a:avLst/>
          </a:prstGeom>
        </p:spPr>
      </p:pic>
      <p:sp>
        <p:nvSpPr>
          <p:cNvPr id="44" name="Text 16">
            <a:extLst>
              <a:ext uri="{FF2B5EF4-FFF2-40B4-BE49-F238E27FC236}">
                <a16:creationId xmlns:a16="http://schemas.microsoft.com/office/drawing/2014/main" id="{0F87B4B8-7E43-9CB2-CA82-11B0179C98C6}"/>
              </a:ext>
            </a:extLst>
          </p:cNvPr>
          <p:cNvSpPr/>
          <p:nvPr/>
        </p:nvSpPr>
        <p:spPr>
          <a:xfrm>
            <a:off x="1623060" y="54726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5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8853092F-5718-C913-EA57-F8D7A749ED88}"/>
              </a:ext>
            </a:extLst>
          </p:cNvPr>
          <p:cNvSpPr/>
          <p:nvPr/>
        </p:nvSpPr>
        <p:spPr>
          <a:xfrm>
            <a:off x="1623060" y="5655564"/>
            <a:ext cx="40233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VisionOne Access Private Limited</a:t>
            </a:r>
          </a:p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No: 3-225 &amp; 226, 4th Floor, Mahendra Mindspace, Kavuri Hills Phase 2, Madhapur, Hyderabad, Telangana, India – 500033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1143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Code Development: Career-Ready Training Program</dc:title>
  <dc:subject>PptxGenJS Presentation</dc:subject>
  <dc:creator>Visioner ERP Solutions</dc:creator>
  <cp:lastModifiedBy>Sai Srinivas</cp:lastModifiedBy>
  <cp:revision>2</cp:revision>
  <dcterms:created xsi:type="dcterms:W3CDTF">2026-06-20T18:53:46Z</dcterms:created>
  <dcterms:modified xsi:type="dcterms:W3CDTF">2026-06-22T08:36:28Z</dcterms:modified>
</cp:coreProperties>
</file>